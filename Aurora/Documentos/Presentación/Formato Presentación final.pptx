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+KfsF6DCyH1k8F1hqLqDWA3W9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4AF5C3E-F503-40D1-AD41-1FFD511D1AE3}">
  <a:tblStyle styleId="{04AF5C3E-F503-40D1-AD41-1FFD511D1AE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e056ecc3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9e056ecc3a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e177b04e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9e177b04ec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4400" u="none" cap="none" strike="noStrike">
                <a:solidFill>
                  <a:schemeClr val="dk1"/>
                </a:solidFill>
              </a:rPr>
              <a:t>PROYECTO “</a:t>
            </a:r>
            <a:r>
              <a:rPr lang="es-CL" sz="4400">
                <a:solidFill>
                  <a:schemeClr val="dk1"/>
                </a:solidFill>
              </a:rPr>
              <a:t>“ShopIA” - Chatbot de IA integrado al e-commerce de Tienda Aurora</a:t>
            </a:r>
            <a:r>
              <a:rPr i="0" lang="es-CL" sz="4400" u="none" cap="none" strike="noStrike">
                <a:solidFill>
                  <a:schemeClr val="dk1"/>
                </a:solidFill>
              </a:rPr>
              <a:t>”</a:t>
            </a:r>
            <a:endParaRPr i="0" sz="44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s-CL" sz="2400" u="none" cap="none" strike="noStrike">
                <a:solidFill>
                  <a:schemeClr val="dk1"/>
                </a:solidFill>
              </a:rPr>
              <a:t>PRESENTACIÓN FINAL CAPSTONE</a:t>
            </a:r>
            <a:endParaRPr i="0" sz="24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1025" y="1505175"/>
            <a:ext cx="7730505" cy="4555618"/>
            <a:chOff x="0" y="-82707"/>
            <a:chExt cx="7633559" cy="4433260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881" rotWithShape="0" algn="ctr" dir="5400000" dist="19294">
                <a:srgbClr val="000000">
                  <a:alpha val="62745"/>
                </a:srgbClr>
              </a:outerShdw>
            </a:effectLst>
          </p:spPr>
          <p:txBody>
            <a:bodyPr anchorCtr="0" anchor="ctr" bIns="92600" lIns="92600" spcFirstLastPara="1" rIns="92600" wrap="square" tIns="92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9" y="-82707"/>
              <a:ext cx="5970900" cy="144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00" lIns="100300" spcFirstLastPara="1" rIns="100300" wrap="square" tIns="100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33"/>
                <a:buFont typeface="Calibri"/>
                <a:buNone/>
              </a:pPr>
              <a:r>
                <a:rPr lang="es-CL" sz="2633">
                  <a:solidFill>
                    <a:schemeClr val="lt1"/>
                  </a:solidFill>
                </a:rPr>
                <a:t>Matias Hernandez </a:t>
              </a:r>
              <a:endParaRPr i="0" sz="2633" u="none" cap="none" strike="noStrike">
                <a:solidFill>
                  <a:schemeClr val="lt1"/>
                </a:solidFill>
              </a:endParaRPr>
            </a:p>
            <a:p>
              <a:pPr indent="-231523" lvl="1" marL="231523" marR="0" rtl="0" algn="l">
                <a:lnSpc>
                  <a:spcPct val="90000"/>
                </a:lnSpc>
                <a:spcBef>
                  <a:spcPts val="922"/>
                </a:spcBef>
                <a:spcAft>
                  <a:spcPts val="0"/>
                </a:spcAft>
                <a:buClr>
                  <a:schemeClr val="lt1"/>
                </a:buClr>
                <a:buSzPts val="2026"/>
                <a:buChar char="•"/>
              </a:pPr>
              <a:r>
                <a:rPr i="0" lang="es-CL" sz="2025" u="none" cap="none" strike="noStrike">
                  <a:solidFill>
                    <a:schemeClr val="lt1"/>
                  </a:solidFill>
                </a:rPr>
                <a:t>Cargo Gestor </a:t>
              </a:r>
              <a:r>
                <a:rPr lang="es-CL" sz="2025">
                  <a:solidFill>
                    <a:schemeClr val="lt1"/>
                  </a:solidFill>
                </a:rPr>
                <a:t>de Proyecto</a:t>
              </a:r>
              <a:endParaRPr i="0" sz="2025" u="none" cap="none" strike="noStrike">
                <a:solidFill>
                  <a:schemeClr val="lt1"/>
                </a:solidFill>
              </a:endParaRPr>
            </a:p>
            <a:p>
              <a:pPr indent="-231523" lvl="1" marL="231523" marR="0" rtl="0" algn="l">
                <a:lnSpc>
                  <a:spcPct val="90000"/>
                </a:lnSpc>
                <a:spcBef>
                  <a:spcPts val="304"/>
                </a:spcBef>
                <a:spcAft>
                  <a:spcPts val="0"/>
                </a:spcAft>
                <a:buClr>
                  <a:schemeClr val="lt1"/>
                </a:buClr>
                <a:buSzPts val="2026"/>
                <a:buChar char="•"/>
              </a:pPr>
              <a:r>
                <a:rPr lang="es-CL" sz="2025">
                  <a:solidFill>
                    <a:schemeClr val="lt1"/>
                  </a:solidFill>
                </a:rPr>
                <a:t>Administrar tareas del equipo</a:t>
              </a:r>
              <a:endParaRPr sz="2025">
                <a:solidFill>
                  <a:schemeClr val="lt1"/>
                </a:solidFill>
              </a:endParaRPr>
            </a:p>
            <a:p>
              <a:pPr indent="-231523" lvl="1" marL="231523" marR="0" rtl="0" algn="l">
                <a:lnSpc>
                  <a:spcPct val="90000"/>
                </a:lnSpc>
                <a:spcBef>
                  <a:spcPts val="304"/>
                </a:spcBef>
                <a:spcAft>
                  <a:spcPts val="0"/>
                </a:spcAft>
                <a:buClr>
                  <a:schemeClr val="lt1"/>
                </a:buClr>
                <a:buSzPts val="2026"/>
                <a:buChar char="•"/>
              </a:pPr>
              <a:r>
                <a:rPr lang="es-CL" sz="2025">
                  <a:solidFill>
                    <a:schemeClr val="lt1"/>
                  </a:solidFill>
                </a:rPr>
                <a:t>Revisar métodos de pago</a:t>
              </a:r>
              <a:endParaRPr sz="2025">
                <a:solidFill>
                  <a:schemeClr val="lt1"/>
                </a:solidFill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881" rotWithShape="0" algn="ctr" dir="5400000" dist="19294">
                <a:srgbClr val="000000">
                  <a:alpha val="62745"/>
                </a:srgbClr>
              </a:outerShdw>
            </a:effectLst>
          </p:spPr>
          <p:txBody>
            <a:bodyPr anchorCtr="0" anchor="ctr" bIns="92600" lIns="92600" spcFirstLastPara="1" rIns="92600" wrap="square" tIns="92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881" rotWithShape="0" algn="ctr" dir="5400000" dist="19294">
                <a:srgbClr val="000000">
                  <a:alpha val="62745"/>
                </a:srgbClr>
              </a:outerShdw>
            </a:effectLst>
          </p:spPr>
          <p:txBody>
            <a:bodyPr anchorCtr="0" anchor="ctr" bIns="92600" lIns="92600" spcFirstLastPara="1" rIns="92600" wrap="square" tIns="92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00" lIns="100300" spcFirstLastPara="1" rIns="100300" wrap="square" tIns="100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33"/>
                <a:buFont typeface="Calibri"/>
                <a:buNone/>
              </a:pPr>
              <a:r>
                <a:rPr lang="es-CL" sz="2633">
                  <a:solidFill>
                    <a:schemeClr val="lt1"/>
                  </a:solidFill>
                </a:rPr>
                <a:t>Tomás Figueroa</a:t>
              </a:r>
              <a:endParaRPr i="0" sz="2633" u="none" cap="none" strike="noStrike">
                <a:solidFill>
                  <a:schemeClr val="lt1"/>
                </a:solidFill>
              </a:endParaRPr>
            </a:p>
            <a:p>
              <a:pPr indent="-231523" lvl="1" marL="231523" marR="0" rtl="0" algn="l">
                <a:lnSpc>
                  <a:spcPct val="90000"/>
                </a:lnSpc>
                <a:spcBef>
                  <a:spcPts val="922"/>
                </a:spcBef>
                <a:spcAft>
                  <a:spcPts val="0"/>
                </a:spcAft>
                <a:buClr>
                  <a:schemeClr val="lt1"/>
                </a:buClr>
                <a:buSzPts val="2026"/>
                <a:buChar char="•"/>
              </a:pPr>
              <a:r>
                <a:rPr i="0" lang="es-CL" sz="2025" u="none" cap="none" strike="noStrike">
                  <a:solidFill>
                    <a:schemeClr val="lt1"/>
                  </a:solidFill>
                </a:rPr>
                <a:t>Cargo </a:t>
              </a:r>
              <a:r>
                <a:rPr lang="es-CL" sz="2025">
                  <a:solidFill>
                    <a:schemeClr val="lt1"/>
                  </a:solidFill>
                </a:rPr>
                <a:t>Desarrollador Full-Stack</a:t>
              </a:r>
              <a:endParaRPr i="0" sz="2025" u="none" cap="none" strike="noStrike">
                <a:solidFill>
                  <a:schemeClr val="lt1"/>
                </a:solidFill>
              </a:endParaRPr>
            </a:p>
            <a:p>
              <a:pPr indent="-231523" lvl="1" marL="231523" marR="0" rtl="0" algn="l">
                <a:lnSpc>
                  <a:spcPct val="90000"/>
                </a:lnSpc>
                <a:spcBef>
                  <a:spcPts val="304"/>
                </a:spcBef>
                <a:spcAft>
                  <a:spcPts val="0"/>
                </a:spcAft>
                <a:buClr>
                  <a:schemeClr val="lt1"/>
                </a:buClr>
                <a:buSzPts val="2026"/>
                <a:buChar char="•"/>
              </a:pPr>
              <a:r>
                <a:rPr lang="es-CL" sz="2025">
                  <a:solidFill>
                    <a:schemeClr val="lt1"/>
                  </a:solidFill>
                </a:rPr>
                <a:t>Desarrollar código y base de datos</a:t>
              </a:r>
              <a:endParaRPr i="0" sz="2025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881" rotWithShape="0" algn="ctr" dir="5400000" dist="19294">
                <a:srgbClr val="000000">
                  <a:alpha val="62745"/>
                </a:srgbClr>
              </a:outerShdw>
            </a:effectLst>
          </p:spPr>
          <p:txBody>
            <a:bodyPr anchorCtr="0" anchor="ctr" bIns="92600" lIns="92600" spcFirstLastPara="1" rIns="92600" wrap="square" tIns="92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881" rotWithShape="0" algn="ctr" dir="5400000" dist="19294">
                <a:srgbClr val="000000">
                  <a:alpha val="62745"/>
                </a:srgbClr>
              </a:outerShdw>
            </a:effectLst>
          </p:spPr>
          <p:txBody>
            <a:bodyPr anchorCtr="0" anchor="ctr" bIns="92600" lIns="92600" spcFirstLastPara="1" rIns="92600" wrap="square" tIns="92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00" lIns="100300" spcFirstLastPara="1" rIns="100300" wrap="square" tIns="100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33"/>
                <a:buFont typeface="Calibri"/>
                <a:buNone/>
              </a:pPr>
              <a:r>
                <a:rPr lang="es-CL" sz="2633">
                  <a:solidFill>
                    <a:schemeClr val="lt1"/>
                  </a:solidFill>
                </a:rPr>
                <a:t>Vicente Morales</a:t>
              </a:r>
              <a:endParaRPr i="0" sz="2633" u="none" cap="none" strike="noStrike">
                <a:solidFill>
                  <a:schemeClr val="lt1"/>
                </a:solidFill>
              </a:endParaRPr>
            </a:p>
            <a:p>
              <a:pPr indent="-231523" lvl="1" marL="231523" marR="0" rtl="0" algn="l">
                <a:lnSpc>
                  <a:spcPct val="90000"/>
                </a:lnSpc>
                <a:spcBef>
                  <a:spcPts val="922"/>
                </a:spcBef>
                <a:spcAft>
                  <a:spcPts val="0"/>
                </a:spcAft>
                <a:buClr>
                  <a:schemeClr val="lt1"/>
                </a:buClr>
                <a:buSzPts val="2026"/>
                <a:buChar char="•"/>
              </a:pPr>
              <a:r>
                <a:rPr i="0" lang="es-CL" sz="2025" u="none" cap="none" strike="noStrike">
                  <a:solidFill>
                    <a:schemeClr val="lt1"/>
                  </a:solidFill>
                </a:rPr>
                <a:t>Cargo</a:t>
              </a:r>
              <a:r>
                <a:rPr lang="es-CL" sz="2025">
                  <a:solidFill>
                    <a:schemeClr val="lt1"/>
                  </a:solidFill>
                </a:rPr>
                <a:t> Ingeniero de control de calidad</a:t>
              </a:r>
              <a:endParaRPr i="0" sz="2025" u="none" cap="none" strike="noStrike">
                <a:solidFill>
                  <a:schemeClr val="lt1"/>
                </a:solidFill>
              </a:endParaRPr>
            </a:p>
            <a:p>
              <a:pPr indent="-231523" lvl="1" marL="231523" marR="0" rtl="0" algn="l">
                <a:lnSpc>
                  <a:spcPct val="90000"/>
                </a:lnSpc>
                <a:spcBef>
                  <a:spcPts val="304"/>
                </a:spcBef>
                <a:spcAft>
                  <a:spcPts val="0"/>
                </a:spcAft>
                <a:buClr>
                  <a:schemeClr val="lt1"/>
                </a:buClr>
                <a:buSzPts val="2026"/>
                <a:buChar char="•"/>
              </a:pPr>
              <a:r>
                <a:rPr lang="es-CL" sz="2025">
                  <a:solidFill>
                    <a:schemeClr val="lt1"/>
                  </a:solidFill>
                </a:rPr>
                <a:t>Revisar funcionalidades e implementar nuevas</a:t>
              </a:r>
              <a:endParaRPr i="0" sz="2025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881" rotWithShape="0" algn="ctr" dir="5400000" dist="19294">
                <a:srgbClr val="000000">
                  <a:alpha val="62745"/>
                </a:srgbClr>
              </a:outerShdw>
            </a:effectLst>
          </p:spPr>
          <p:txBody>
            <a:bodyPr anchorCtr="0" anchor="ctr" bIns="92600" lIns="92600" spcFirstLastPara="1" rIns="92600" wrap="square" tIns="92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ShopIA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238327" y="3058616"/>
            <a:ext cx="3609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</a:rPr>
              <a:t>INTEGRANTES DEL PROYECTO</a:t>
            </a:r>
            <a:endParaRPr b="1" sz="1800">
              <a:solidFill>
                <a:schemeClr val="dk1"/>
              </a:solidFill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ShopIA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0" y="113084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b="1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Tienda Aurora necesita de forma urgente </a:t>
            </a:r>
            <a:r>
              <a:rPr b="1" lang="es-CL" sz="1800">
                <a:solidFill>
                  <a:schemeClr val="dk1"/>
                </a:solidFill>
              </a:rPr>
              <a:t>reducir la carga de soporte y mejorar su e-commerce</a:t>
            </a:r>
            <a:r>
              <a:rPr lang="es-CL" sz="1800">
                <a:solidFill>
                  <a:schemeClr val="dk1"/>
                </a:solidFill>
              </a:rPr>
              <a:t> mediante un sistema automatizado de </a:t>
            </a:r>
            <a:r>
              <a:rPr lang="es-CL" sz="1800">
                <a:solidFill>
                  <a:schemeClr val="dk1"/>
                </a:solidFill>
              </a:rPr>
              <a:t>atención</a:t>
            </a:r>
            <a:r>
              <a:rPr lang="es-CL" sz="1800">
                <a:solidFill>
                  <a:schemeClr val="dk1"/>
                </a:solidFill>
              </a:rPr>
              <a:t> al cliente que </a:t>
            </a:r>
            <a:r>
              <a:rPr b="1" lang="es-CL" sz="1800">
                <a:solidFill>
                  <a:schemeClr val="dk1"/>
                </a:solidFill>
              </a:rPr>
              <a:t>resuelva las preguntas frecuentes de los clientes</a:t>
            </a:r>
            <a:r>
              <a:rPr lang="es-CL" sz="1800">
                <a:solidFill>
                  <a:schemeClr val="dk1"/>
                </a:solidFill>
              </a:rPr>
              <a:t>; preguntar sobre el </a:t>
            </a:r>
            <a:r>
              <a:rPr b="1" lang="es-CL" sz="1800">
                <a:solidFill>
                  <a:schemeClr val="dk1"/>
                </a:solidFill>
              </a:rPr>
              <a:t>stock</a:t>
            </a:r>
            <a:r>
              <a:rPr lang="es-CL" sz="1800">
                <a:solidFill>
                  <a:schemeClr val="dk1"/>
                </a:solidFill>
              </a:rPr>
              <a:t>, </a:t>
            </a:r>
            <a:r>
              <a:rPr b="1" lang="es-CL" sz="1800">
                <a:solidFill>
                  <a:schemeClr val="dk1"/>
                </a:solidFill>
              </a:rPr>
              <a:t>ofertas </a:t>
            </a:r>
            <a:r>
              <a:rPr lang="es-CL" sz="1800">
                <a:solidFill>
                  <a:schemeClr val="dk1"/>
                </a:solidFill>
              </a:rPr>
              <a:t>disponibles y ver los </a:t>
            </a:r>
            <a:r>
              <a:rPr b="1" lang="es-CL" sz="1800">
                <a:solidFill>
                  <a:schemeClr val="dk1"/>
                </a:solidFill>
              </a:rPr>
              <a:t>pedidos </a:t>
            </a:r>
            <a:r>
              <a:rPr lang="es-CL" sz="1800">
                <a:solidFill>
                  <a:schemeClr val="dk1"/>
                </a:solidFill>
              </a:rPr>
              <a:t>en tiempo real para, finalmente, pasar a soporte humano solo cuando sea realmente necesario.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1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</a:rPr>
              <a:t>Desarrollar un chatbot con IA</a:t>
            </a:r>
            <a:r>
              <a:rPr lang="es-CL" sz="1800">
                <a:solidFill>
                  <a:schemeClr val="dk1"/>
                </a:solidFill>
              </a:rPr>
              <a:t> integrado al sitio web de Tienda Aurora, que </a:t>
            </a:r>
            <a:r>
              <a:rPr lang="es-CL" sz="1800">
                <a:solidFill>
                  <a:schemeClr val="dk1"/>
                </a:solidFill>
              </a:rPr>
              <a:t>actúe</a:t>
            </a:r>
            <a:r>
              <a:rPr lang="es-CL" sz="1800">
                <a:solidFill>
                  <a:schemeClr val="dk1"/>
                </a:solidFill>
              </a:rPr>
              <a:t> como un asistente virtual 24/7. </a:t>
            </a:r>
            <a:br>
              <a:rPr lang="es-CL" sz="1800">
                <a:solidFill>
                  <a:schemeClr val="dk1"/>
                </a:solidFill>
              </a:rPr>
            </a:br>
            <a:r>
              <a:rPr lang="es-CL" sz="1800">
                <a:solidFill>
                  <a:schemeClr val="dk1"/>
                </a:solidFill>
              </a:rPr>
              <a:t>Esta </a:t>
            </a:r>
            <a:r>
              <a:rPr b="1" lang="es-CL" sz="1800">
                <a:solidFill>
                  <a:schemeClr val="dk1"/>
                </a:solidFill>
              </a:rPr>
              <a:t>IA</a:t>
            </a:r>
            <a:r>
              <a:rPr lang="es-CL" sz="1800">
                <a:solidFill>
                  <a:schemeClr val="dk1"/>
                </a:solidFill>
              </a:rPr>
              <a:t> </a:t>
            </a:r>
            <a:r>
              <a:rPr lang="es-CL" sz="1800">
                <a:solidFill>
                  <a:schemeClr val="dk1"/>
                </a:solidFill>
              </a:rPr>
              <a:t>estará</a:t>
            </a:r>
            <a:r>
              <a:rPr lang="es-CL" sz="1800">
                <a:solidFill>
                  <a:schemeClr val="dk1"/>
                </a:solidFill>
              </a:rPr>
              <a:t> </a:t>
            </a:r>
            <a:r>
              <a:rPr b="1" lang="es-CL" sz="1800">
                <a:solidFill>
                  <a:schemeClr val="dk1"/>
                </a:solidFill>
              </a:rPr>
              <a:t>conectada </a:t>
            </a:r>
            <a:r>
              <a:rPr lang="es-CL" sz="1800">
                <a:solidFill>
                  <a:schemeClr val="dk1"/>
                </a:solidFill>
              </a:rPr>
              <a:t>con la </a:t>
            </a:r>
            <a:r>
              <a:rPr b="1" lang="es-CL" sz="1800">
                <a:solidFill>
                  <a:schemeClr val="dk1"/>
                </a:solidFill>
              </a:rPr>
              <a:t>base de datos</a:t>
            </a:r>
            <a:r>
              <a:rPr lang="es-CL" sz="1800">
                <a:solidFill>
                  <a:schemeClr val="dk1"/>
                </a:solidFill>
              </a:rPr>
              <a:t> interna a tiempo real de la empresa(productos, stock, pedidos, sucursales y ofertas) para poder responder preguntas y apoyar procesos de compra sin </a:t>
            </a:r>
            <a:r>
              <a:rPr lang="es-CL" sz="1800">
                <a:solidFill>
                  <a:schemeClr val="dk1"/>
                </a:solidFill>
              </a:rPr>
              <a:t>intervención</a:t>
            </a:r>
            <a:r>
              <a:rPr lang="es-CL" sz="1800">
                <a:solidFill>
                  <a:schemeClr val="dk1"/>
                </a:solidFill>
              </a:rPr>
              <a:t> humana.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ShopIA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0" y="138430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</a:rPr>
              <a:t>Objetivo General</a:t>
            </a:r>
            <a:endParaRPr b="1" sz="1800">
              <a:solidFill>
                <a:schemeClr val="dk1"/>
              </a:solidFill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p4"/>
          <p:cNvSpPr txBox="1"/>
          <p:nvPr/>
        </p:nvSpPr>
        <p:spPr>
          <a:xfrm>
            <a:off x="1" y="408244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</a:rPr>
              <a:t>Objetivos Específicos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15" y="2040571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Diseñar, desarrollar e implementar un chatbot inteligente (ShopIA) integrado al e-commerce de la Tienda Aurora, capaz de automatizar la atención al cliente mediante inteligencia artificial, proporcionando respuestas rápidas y personalizadas sobre </a:t>
            </a:r>
            <a:r>
              <a:rPr b="1" lang="es-CL" sz="1800">
                <a:solidFill>
                  <a:schemeClr val="dk1"/>
                </a:solidFill>
              </a:rPr>
              <a:t>envíos, cambios, stock, pedidos y promociones</a:t>
            </a:r>
            <a:r>
              <a:rPr lang="es-CL" sz="1800">
                <a:solidFill>
                  <a:schemeClr val="dk1"/>
                </a:solidFill>
              </a:rPr>
              <a:t>, con el fin de reducir la carga operativa del equipo de soporte, mejorar la experiencia de usuario y aumentar la tasa de conversión en el canal digital.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84289" y="4898432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CL" sz="1800">
                <a:solidFill>
                  <a:schemeClr val="dk1"/>
                </a:solidFill>
              </a:rPr>
              <a:t>Desarrollar base de datos con PostgreSQL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CL" sz="1800">
                <a:solidFill>
                  <a:schemeClr val="dk1"/>
                </a:solidFill>
              </a:rPr>
              <a:t>Desarrollar la página web del e-commerce de Aurora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CL" sz="1800">
                <a:solidFill>
                  <a:schemeClr val="dk1"/>
                </a:solidFill>
              </a:rPr>
              <a:t>Unir backend con frontend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CL" sz="1800">
                <a:solidFill>
                  <a:schemeClr val="dk1"/>
                </a:solidFill>
              </a:rPr>
              <a:t>Configurar la arquitectura de la inteligencia de la IA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CL" sz="1800">
                <a:solidFill>
                  <a:schemeClr val="dk1"/>
                </a:solidFill>
              </a:rPr>
              <a:t>Integrar el chatbot al e-commerce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ShopIA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</a:rPr>
              <a:t>Alcances y limitaciones del proyecto</a:t>
            </a:r>
            <a:endParaRPr b="1"/>
          </a:p>
        </p:txBody>
      </p:sp>
      <p:cxnSp>
        <p:nvCxnSpPr>
          <p:cNvPr id="133" name="Google Shape;133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" name="Google Shape;134;p5"/>
          <p:cNvSpPr txBox="1"/>
          <p:nvPr/>
        </p:nvSpPr>
        <p:spPr>
          <a:xfrm>
            <a:off x="716225" y="2442975"/>
            <a:ext cx="10627500" cy="39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El proyecto </a:t>
            </a:r>
            <a:r>
              <a:rPr i="1" lang="es-CL" sz="1800">
                <a:solidFill>
                  <a:schemeClr val="dk1"/>
                </a:solidFill>
              </a:rPr>
              <a:t>ShopIA</a:t>
            </a:r>
            <a:r>
              <a:rPr lang="es-CL" sz="1800">
                <a:solidFill>
                  <a:schemeClr val="dk1"/>
                </a:solidFill>
              </a:rPr>
              <a:t> contempla el desarrollo de un chatbot de inteligencia artificial integrado al e-commerce de Tienda Aurora, orientado a automatizar la atención al cliente y optimizar la experiencia de compra. </a:t>
            </a:r>
            <a:r>
              <a:rPr b="1" lang="es-CL" sz="1800">
                <a:solidFill>
                  <a:schemeClr val="dk1"/>
                </a:solidFill>
              </a:rPr>
              <a:t>Su alcance</a:t>
            </a:r>
            <a:r>
              <a:rPr lang="es-CL" sz="1800">
                <a:solidFill>
                  <a:schemeClr val="dk1"/>
                </a:solidFill>
              </a:rPr>
              <a:t> incluye la </a:t>
            </a:r>
            <a:r>
              <a:rPr b="1" lang="es-CL" sz="1800">
                <a:solidFill>
                  <a:schemeClr val="dk1"/>
                </a:solidFill>
              </a:rPr>
              <a:t>respuesta a preguntas frecuentes, consulta de stock y pedidos en tiempo real, validación de ofertas, entrega de información de sucursales y derivación automática a un agente humano</a:t>
            </a:r>
            <a:r>
              <a:rPr lang="es-CL" sz="1800">
                <a:solidFill>
                  <a:schemeClr val="dk1"/>
                </a:solidFill>
              </a:rPr>
              <a:t> cuando la IA no resuelva la consulta, todo con trazabilidad y métricas de rendimiento.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>
                <a:solidFill>
                  <a:schemeClr val="dk1"/>
                </a:solidFill>
              </a:rPr>
              <a:t>Limitaciones:</a:t>
            </a:r>
            <a:br>
              <a:rPr lang="es-CL" sz="1800">
                <a:solidFill>
                  <a:schemeClr val="dk1"/>
                </a:solidFill>
              </a:rPr>
            </a:br>
            <a:r>
              <a:rPr lang="es-CL" sz="1800">
                <a:solidFill>
                  <a:schemeClr val="dk1"/>
                </a:solidFill>
              </a:rPr>
              <a:t>No incorpora análisis avanzado de lenguaje, pagos reales, personalización por usuario ni soporte multilingüe, limitando su alcance a la validación técnica y funcional del chatbot en un entorno controlado.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ShopIA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</a:rPr>
              <a:t>Metodología de trabajo para el desarrollo del proyecto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1069425" y="2678450"/>
            <a:ext cx="9320400" cy="3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El desarrollo del proyecto </a:t>
            </a:r>
            <a:r>
              <a:rPr i="1" lang="es-CL" sz="1800">
                <a:solidFill>
                  <a:schemeClr val="dk1"/>
                </a:solidFill>
              </a:rPr>
              <a:t>ShopIA</a:t>
            </a:r>
            <a:r>
              <a:rPr lang="es-CL" sz="1800">
                <a:solidFill>
                  <a:schemeClr val="dk1"/>
                </a:solidFill>
              </a:rPr>
              <a:t> se realizó bajo un enfoque ágil, utilizando principios de la metodología </a:t>
            </a:r>
            <a:r>
              <a:rPr b="1" lang="es-CL" sz="1800">
                <a:solidFill>
                  <a:schemeClr val="dk1"/>
                </a:solidFill>
              </a:rPr>
              <a:t>Scrum</a:t>
            </a:r>
            <a:r>
              <a:rPr lang="es-CL" sz="1800">
                <a:solidFill>
                  <a:schemeClr val="dk1"/>
                </a:solidFill>
              </a:rPr>
              <a:t>, que permitió planificar y ejecutar el trabajo en iteraciones cortas, fomentando la colaboración continua y la validación temprana de avances. Se establecieron </a:t>
            </a:r>
            <a:r>
              <a:rPr b="1" lang="es-CL" sz="1800">
                <a:solidFill>
                  <a:schemeClr val="dk1"/>
                </a:solidFill>
              </a:rPr>
              <a:t>sprints semanales</a:t>
            </a:r>
            <a:r>
              <a:rPr lang="es-CL" sz="1800">
                <a:solidFill>
                  <a:schemeClr val="dk1"/>
                </a:solidFill>
              </a:rPr>
              <a:t> orientados al diseño de la página web y base de datos, la integración con APIs del e-commerce y la validación del prototipo mediante pruebas funcionales.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Cada etapa </a:t>
            </a:r>
            <a:r>
              <a:rPr b="1" lang="es-CL" sz="1800">
                <a:solidFill>
                  <a:schemeClr val="dk1"/>
                </a:solidFill>
              </a:rPr>
              <a:t>contempló reuniones de seguimiento, revisión de avances y ajustes según retroalimentación</a:t>
            </a:r>
            <a:r>
              <a:rPr lang="es-CL" sz="1800">
                <a:solidFill>
                  <a:schemeClr val="dk1"/>
                </a:solidFill>
              </a:rPr>
              <a:t>, garantizando la calidad técnica de la app (previo al chatbot), la coherencia con los objetivos del negocio y la entrega de un </a:t>
            </a:r>
            <a:r>
              <a:rPr b="1" lang="es-CL" sz="1800">
                <a:solidFill>
                  <a:schemeClr val="dk1"/>
                </a:solidFill>
              </a:rPr>
              <a:t>MVP  funcional y medible</a:t>
            </a:r>
            <a:r>
              <a:rPr lang="es-CL" sz="1800">
                <a:solidFill>
                  <a:schemeClr val="dk1"/>
                </a:solidFill>
              </a:rPr>
              <a:t> dentro del plazo definido para, posteriormente, empezar a trabajar el chatbot.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143" name="Google Shape;143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8" name="Google Shape;1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ShopIA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1" y="1155656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</a:rPr>
              <a:t>Cronograma para el desarrollo del proyecto</a:t>
            </a:r>
            <a:endParaRPr b="1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2" name="Google Shape;152;p7"/>
          <p:cNvGraphicFramePr/>
          <p:nvPr/>
        </p:nvGraphicFramePr>
        <p:xfrm>
          <a:off x="1342346" y="22109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{04AF5C3E-F503-40D1-AD41-1FFD511D1AE3}</a:tableStyleId>
              </a:tblPr>
              <a:tblGrid>
                <a:gridCol w="1017675"/>
                <a:gridCol w="494150"/>
                <a:gridCol w="482175"/>
                <a:gridCol w="484950"/>
                <a:gridCol w="484950"/>
                <a:gridCol w="482175"/>
                <a:gridCol w="482175"/>
                <a:gridCol w="482175"/>
                <a:gridCol w="482175"/>
                <a:gridCol w="482175"/>
                <a:gridCol w="482175"/>
                <a:gridCol w="482175"/>
                <a:gridCol w="484025"/>
                <a:gridCol w="484025"/>
                <a:gridCol w="484025"/>
                <a:gridCol w="484025"/>
                <a:gridCol w="484025"/>
                <a:gridCol w="140125"/>
                <a:gridCol w="484025"/>
                <a:gridCol w="484025"/>
                <a:gridCol w="140125"/>
              </a:tblGrid>
              <a:tr h="524475">
                <a:tc row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 hMerge="1"/>
                <a:tc hMerge="1"/>
              </a:tr>
              <a:tr h="5405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32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1: Planificación y diseño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5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Fase 2: Desarrol</a:t>
                      </a: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 y pruebas iniciales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4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3: Despliegue, ajustes y Optimización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7" name="Google Shape;1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ShopIA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59" name="Google Shape;159;p8"/>
          <p:cNvSpPr txBox="1"/>
          <p:nvPr/>
        </p:nvSpPr>
        <p:spPr>
          <a:xfrm>
            <a:off x="0" y="114565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</a:rPr>
              <a:t>Arquitectura del software</a:t>
            </a:r>
            <a:endParaRPr b="1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0" name="Google Shape;160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p8"/>
          <p:cNvSpPr txBox="1"/>
          <p:nvPr/>
        </p:nvSpPr>
        <p:spPr>
          <a:xfrm>
            <a:off x="948250" y="3492875"/>
            <a:ext cx="30903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Frontend – Node.js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</a:rPr>
              <a:t>Interfaz del usuario y chatbot embebido en el e-commerce.</a:t>
            </a:r>
            <a:br>
              <a:rPr lang="es-CL" sz="1100">
                <a:solidFill>
                  <a:schemeClr val="dk1"/>
                </a:solidFill>
              </a:rPr>
            </a:br>
            <a:r>
              <a:rPr lang="es-CL" sz="1100">
                <a:solidFill>
                  <a:schemeClr val="dk1"/>
                </a:solidFill>
              </a:rPr>
              <a:t> Gestiona la interacción en tiempo real con el cliente y envía solicitudes al backend mediante APIs REST.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624375" y="2395175"/>
            <a:ext cx="51384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Arquitectura cliente–servidor desacoplada con comunicación mediante APIs REST y soporte CORS.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4085625" y="3492875"/>
            <a:ext cx="35313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Backend – Flask (Python)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</a:rPr>
              <a:t>Contiene la lógica del negocio y las integraciones principales.</a:t>
            </a:r>
            <a:br>
              <a:rPr lang="es-CL" sz="1100">
                <a:solidFill>
                  <a:schemeClr val="dk1"/>
                </a:solidFill>
              </a:rPr>
            </a:br>
            <a:r>
              <a:rPr lang="es-CL" sz="1100">
                <a:solidFill>
                  <a:schemeClr val="dk1"/>
                </a:solidFill>
              </a:rPr>
              <a:t> Procesa las solicitudes del chatbot, maneja los flujos de pedidos, stock y respuestas automatizadas.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870850" y="4927325"/>
            <a:ext cx="3245100" cy="14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Base de Datos – PostgreSQL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</a:rPr>
              <a:t>Almacena la información de productos, inventario, pedidos, usuarios, ofertas y registros del chatbot.</a:t>
            </a:r>
            <a:br>
              <a:rPr lang="es-CL" sz="1100">
                <a:solidFill>
                  <a:schemeClr val="dk1"/>
                </a:solidFill>
              </a:rPr>
            </a:br>
            <a:r>
              <a:rPr lang="es-CL" sz="1100">
                <a:solidFill>
                  <a:schemeClr val="dk1"/>
                </a:solidFill>
              </a:rPr>
              <a:t> Garantiza consistencia, seguridad y trazabilidad de los datos.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4115950" y="4927325"/>
            <a:ext cx="3674700" cy="16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IA y APIs de comunicación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</a:rPr>
              <a:t>Orquesta las respuestas del chatbot utilizando IA y lógica RAG.</a:t>
            </a:r>
            <a:br>
              <a:rPr lang="es-CL" sz="1100">
                <a:solidFill>
                  <a:schemeClr val="dk1"/>
                </a:solidFill>
              </a:rPr>
            </a:br>
            <a:r>
              <a:rPr lang="es-CL" sz="1100">
                <a:solidFill>
                  <a:schemeClr val="dk1"/>
                </a:solidFill>
              </a:rPr>
              <a:t> Conecta el frontend con el backend mediante endpoints seguros con políticas CORS, asegurando tiempos de respuesta rápidos y comunicación confiable entre servidores.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3050" y="2446955"/>
            <a:ext cx="3721313" cy="4258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1" name="Google Shape;1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ShopIA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73" name="Google Shape;173;p9"/>
          <p:cNvSpPr txBox="1"/>
          <p:nvPr/>
        </p:nvSpPr>
        <p:spPr>
          <a:xfrm>
            <a:off x="0" y="9929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</a:rPr>
              <a:t>Modelo de datos</a:t>
            </a:r>
            <a:endParaRPr b="1"/>
          </a:p>
        </p:txBody>
      </p:sp>
      <p:cxnSp>
        <p:nvCxnSpPr>
          <p:cNvPr id="174" name="Google Shape;174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5" name="Google Shape;17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8375" y="1874286"/>
            <a:ext cx="5725785" cy="4474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0" name="Google Shape;180;g39e056ecc3a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9e056ecc3a_0_2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“ShopIA”</a:t>
            </a:r>
            <a:endParaRPr/>
          </a:p>
        </p:txBody>
      </p:sp>
      <p:sp>
        <p:nvSpPr>
          <p:cNvPr id="182" name="Google Shape;182;g39e056ecc3a_0_20"/>
          <p:cNvSpPr txBox="1"/>
          <p:nvPr/>
        </p:nvSpPr>
        <p:spPr>
          <a:xfrm>
            <a:off x="0" y="9929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</a:rPr>
              <a:t>Modelo de datos</a:t>
            </a:r>
            <a:endParaRPr b="1"/>
          </a:p>
        </p:txBody>
      </p:sp>
      <p:cxnSp>
        <p:nvCxnSpPr>
          <p:cNvPr id="183" name="Google Shape;183;g39e056ecc3a_0_20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4" name="Google Shape;184;g39e056ecc3a_0_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7925" y="1730380"/>
            <a:ext cx="7038512" cy="4913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9" name="Google Shape;18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ShopIA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91" name="Google Shape;191;p10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</a:rPr>
              <a:t>Tecnologías utilizadas</a:t>
            </a:r>
            <a:endParaRPr b="1"/>
          </a:p>
        </p:txBody>
      </p:sp>
      <p:cxnSp>
        <p:nvCxnSpPr>
          <p:cNvPr id="192" name="Google Shape;192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3" name="Google Shape;19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300" y="3131441"/>
            <a:ext cx="1217776" cy="86029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0"/>
          <p:cNvSpPr txBox="1"/>
          <p:nvPr/>
        </p:nvSpPr>
        <p:spPr>
          <a:xfrm>
            <a:off x="1564350" y="3054325"/>
            <a:ext cx="29838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Framework principal del servidor backend.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Maneja rutas de pago (WebPay, MercadoPago), carrito, pedidos, y conexión con el frontend.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0450" y="3200262"/>
            <a:ext cx="1769874" cy="9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0"/>
          <p:cNvSpPr txBox="1"/>
          <p:nvPr/>
        </p:nvSpPr>
        <p:spPr>
          <a:xfrm>
            <a:off x="8070325" y="3223675"/>
            <a:ext cx="27915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Se </a:t>
            </a:r>
            <a:r>
              <a:rPr lang="es-CL" sz="1100">
                <a:solidFill>
                  <a:schemeClr val="dk1"/>
                </a:solidFill>
              </a:rPr>
              <a:t>usó</a:t>
            </a:r>
            <a:r>
              <a:rPr lang="es-CL" sz="1100">
                <a:solidFill>
                  <a:schemeClr val="dk1"/>
                </a:solidFill>
              </a:rPr>
              <a:t> para la integración con otras APIs.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Conexión a la misma base de datos PostgreSQL usando </a:t>
            </a:r>
            <a:r>
              <a:rPr lang="es-CL" sz="1100">
                <a:solidFill>
                  <a:schemeClr val="dk1"/>
                </a:solidFill>
              </a:rPr>
              <a:t>psycopg2</a:t>
            </a:r>
            <a:r>
              <a:rPr lang="es-CL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7800" y="5044225"/>
            <a:ext cx="1146550" cy="11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0"/>
          <p:cNvSpPr txBox="1"/>
          <p:nvPr/>
        </p:nvSpPr>
        <p:spPr>
          <a:xfrm>
            <a:off x="1621325" y="5196325"/>
            <a:ext cx="41019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Base de datos.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creación</a:t>
            </a:r>
            <a:r>
              <a:rPr lang="es-CL" sz="1100">
                <a:solidFill>
                  <a:schemeClr val="dk1"/>
                </a:solidFill>
              </a:rPr>
              <a:t> de tablas como:</a:t>
            </a:r>
            <a:br>
              <a:rPr lang="es-CL" sz="1100">
                <a:solidFill>
                  <a:schemeClr val="dk1"/>
                </a:solidFill>
              </a:rPr>
            </a:br>
            <a:r>
              <a:rPr lang="es-CL" sz="1100">
                <a:solidFill>
                  <a:schemeClr val="dk1"/>
                </a:solidFill>
              </a:rPr>
              <a:t> usuario, producto, inventario_sucursal,</a:t>
            </a:r>
            <a:br>
              <a:rPr lang="es-CL" sz="1100">
                <a:solidFill>
                  <a:schemeClr val="dk1"/>
                </a:solidFill>
              </a:rPr>
            </a:br>
            <a:r>
              <a:rPr lang="es-CL" sz="1100">
                <a:solidFill>
                  <a:schemeClr val="dk1"/>
                </a:solidFill>
              </a:rPr>
              <a:t> pedido, etc.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Administrado desde pgAdmin.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43788" y="5160725"/>
            <a:ext cx="2126549" cy="107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0"/>
          <p:cNvSpPr txBox="1"/>
          <p:nvPr/>
        </p:nvSpPr>
        <p:spPr>
          <a:xfrm>
            <a:off x="7973700" y="5317400"/>
            <a:ext cx="37269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Interfaz completa del sitio Aurora (main, colecciones, productos, carrito, boleta, etc.).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Interacción dinámica con el carrito, gestión de pagos, chat, etc.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5" name="Google Shape;20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1"/>
          <p:cNvSpPr txBox="1"/>
          <p:nvPr/>
        </p:nvSpPr>
        <p:spPr>
          <a:xfrm>
            <a:off x="1" y="2707792"/>
            <a:ext cx="121920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chemeClr val="dk1"/>
                </a:solidFill>
              </a:rPr>
              <a:t>DEMOSTRACIÓN DEL RESULTADO DEL PROYECTO</a:t>
            </a:r>
            <a:endParaRPr b="1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1" name="Google Shape;2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chemeClr val="dk1"/>
                </a:solidFill>
              </a:rPr>
              <a:t>Resultados obtenidos</a:t>
            </a:r>
            <a:endParaRPr b="1"/>
          </a:p>
        </p:txBody>
      </p:sp>
      <p:sp>
        <p:nvSpPr>
          <p:cNvPr id="213" name="Google Shape;213;p12"/>
          <p:cNvSpPr txBox="1"/>
          <p:nvPr/>
        </p:nvSpPr>
        <p:spPr>
          <a:xfrm>
            <a:off x="1248750" y="2425875"/>
            <a:ext cx="9375900" cy="28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</a:rPr>
              <a:t>El proyecto se encuentra en su fase final, y tras completar la integración del chatbot, la habilitación del flujo de pagos y la emisión de boletas, se espera obtener los siguientes resultados: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s-CL" sz="1100">
                <a:solidFill>
                  <a:schemeClr val="dk1"/>
                </a:solidFill>
              </a:rPr>
              <a:t>E-commerce y base de datos completamente operativas</a:t>
            </a:r>
            <a:r>
              <a:rPr lang="es-CL" sz="1100">
                <a:solidFill>
                  <a:schemeClr val="dk1"/>
                </a:solidFill>
              </a:rPr>
              <a:t>, con catálogo, carrito, gestión de pedidos y pagos funcionales, permitiendo la compra completa dentro del entorno web.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s-CL" sz="1100">
                <a:solidFill>
                  <a:schemeClr val="dk1"/>
                </a:solidFill>
              </a:rPr>
              <a:t>Proceso de pago automatizado y seguro</a:t>
            </a:r>
            <a:r>
              <a:rPr lang="es-CL" sz="1100">
                <a:solidFill>
                  <a:schemeClr val="dk1"/>
                </a:solidFill>
              </a:rPr>
              <a:t>, conectado al servicio Transbank o Mercado Pago, con validación de transacciones y confirmación de órdenes de compra.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s-CL" sz="1100">
                <a:solidFill>
                  <a:schemeClr val="dk1"/>
                </a:solidFill>
              </a:rPr>
              <a:t>Generación automática de boletas electrónicas</a:t>
            </a:r>
            <a:r>
              <a:rPr lang="es-CL" sz="1100">
                <a:solidFill>
                  <a:schemeClr val="dk1"/>
                </a:solidFill>
              </a:rPr>
              <a:t>, vinculadas al pedido y almacenadas en la base de datos PostgreSQL, garantizando trazabilidad y cumplimiento tributario.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s-CL" sz="1100">
                <a:solidFill>
                  <a:schemeClr val="dk1"/>
                </a:solidFill>
              </a:rPr>
              <a:t>Base sólida para futuras mejoras</a:t>
            </a:r>
            <a:r>
              <a:rPr lang="es-CL" sz="1100">
                <a:solidFill>
                  <a:schemeClr val="dk1"/>
                </a:solidFill>
              </a:rPr>
              <a:t>, como integración multicanal (WhatsApp, redes sociales), recomendaciones inteligentes o reportes analíticos de comportamiento del usuario.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8" name="Google Shape;218;g39e177b04ec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9e177b04ec_0_1"/>
          <p:cNvSpPr txBox="1"/>
          <p:nvPr/>
        </p:nvSpPr>
        <p:spPr>
          <a:xfrm>
            <a:off x="1" y="1022048"/>
            <a:ext cx="121920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chemeClr val="dk1"/>
                </a:solidFill>
              </a:rPr>
              <a:t>Obstáculos presentados durante el desarrollo</a:t>
            </a:r>
            <a:endParaRPr b="1"/>
          </a:p>
        </p:txBody>
      </p:sp>
      <p:sp>
        <p:nvSpPr>
          <p:cNvPr id="220" name="Google Shape;220;g39e177b04ec_0_1"/>
          <p:cNvSpPr txBox="1"/>
          <p:nvPr/>
        </p:nvSpPr>
        <p:spPr>
          <a:xfrm>
            <a:off x="918550" y="2757275"/>
            <a:ext cx="10674300" cy="3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</a:rPr>
              <a:t>Durante la etapa final de desarrollo se han identificado los siguientes desafíos que han afectado la continuidad y estabilidad del proyecto: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s-CL" sz="1100">
                <a:solidFill>
                  <a:schemeClr val="dk1"/>
                </a:solidFill>
              </a:rPr>
              <a:t>Actualizaciones consecutivas en la base de datos:</a:t>
            </a:r>
            <a:br>
              <a:rPr b="1" lang="es-CL" sz="1100">
                <a:solidFill>
                  <a:schemeClr val="dk1"/>
                </a:solidFill>
              </a:rPr>
            </a:br>
            <a:r>
              <a:rPr lang="es-CL" sz="1100">
                <a:solidFill>
                  <a:schemeClr val="dk1"/>
                </a:solidFill>
              </a:rPr>
              <a:t> Las modificaciones constantes en las tablas de PostgreSQL generaron conflictos de integridad y dependencias entre las entidades, obligando a realizar ajustes en las relaciones y migraciones de datos.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s-CL" sz="1100">
                <a:solidFill>
                  <a:schemeClr val="dk1"/>
                </a:solidFill>
              </a:rPr>
              <a:t>Implementación del chatbot por costos asociados:</a:t>
            </a:r>
            <a:br>
              <a:rPr b="1" lang="es-CL" sz="1100">
                <a:solidFill>
                  <a:schemeClr val="dk1"/>
                </a:solidFill>
              </a:rPr>
            </a:br>
            <a:r>
              <a:rPr lang="es-CL" sz="1100">
                <a:solidFill>
                  <a:schemeClr val="dk1"/>
                </a:solidFill>
              </a:rPr>
              <a:t> La integración del módulo de inteligencia artificial implica costos de infraestructura y consumo de API, lo que ha retrasado la implementación completa del chatbot </a:t>
            </a:r>
            <a:r>
              <a:rPr i="1" lang="es-CL" sz="1100">
                <a:solidFill>
                  <a:schemeClr val="dk1"/>
                </a:solidFill>
              </a:rPr>
              <a:t>ShopIA</a:t>
            </a:r>
            <a:r>
              <a:rPr lang="es-CL" sz="1100">
                <a:solidFill>
                  <a:schemeClr val="dk1"/>
                </a:solidFill>
              </a:rPr>
              <a:t> dentro del entorno productivo.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s-CL" sz="1100">
                <a:solidFill>
                  <a:schemeClr val="dk1"/>
                </a:solidFill>
              </a:rPr>
              <a:t>Problemas de dominio en el desarrollo de la API:</a:t>
            </a:r>
            <a:br>
              <a:rPr b="1" lang="es-CL" sz="1100">
                <a:solidFill>
                  <a:schemeClr val="dk1"/>
                </a:solidFill>
              </a:rPr>
            </a:br>
            <a:r>
              <a:rPr lang="es-CL" sz="1100">
                <a:solidFill>
                  <a:schemeClr val="dk1"/>
                </a:solidFill>
              </a:rPr>
              <a:t> Se presentaron dificultades al configurar los dominios y subdominios del backend Flask y el frontend Node.js, afectando la comunicación entre servicios y el despliegue en servidores independientes.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s-CL" sz="1100">
                <a:solidFill>
                  <a:schemeClr val="dk1"/>
                </a:solidFill>
              </a:rPr>
              <a:t>Conflictos de cookies y sesiones por orígenes distintos:</a:t>
            </a:r>
            <a:br>
              <a:rPr b="1" lang="es-CL" sz="1100">
                <a:solidFill>
                  <a:schemeClr val="dk1"/>
                </a:solidFill>
              </a:rPr>
            </a:br>
            <a:r>
              <a:rPr lang="es-CL" sz="1100">
                <a:solidFill>
                  <a:schemeClr val="dk1"/>
                </a:solidFill>
              </a:rPr>
              <a:t> Al ejecutar el frontend en </a:t>
            </a:r>
            <a:r>
              <a:rPr lang="es-CL" sz="1100">
                <a:solidFill>
                  <a:srgbClr val="188038"/>
                </a:solidFill>
              </a:rPr>
              <a:t>localhost:3000</a:t>
            </a:r>
            <a:r>
              <a:rPr lang="es-CL" sz="1100">
                <a:solidFill>
                  <a:schemeClr val="dk1"/>
                </a:solidFill>
              </a:rPr>
              <a:t> y el backend en </a:t>
            </a:r>
            <a:r>
              <a:rPr lang="es-CL" sz="1100">
                <a:solidFill>
                  <a:srgbClr val="188038"/>
                </a:solidFill>
              </a:rPr>
              <a:t>127.0..01:5000</a:t>
            </a:r>
            <a:r>
              <a:rPr lang="es-CL" sz="1100">
                <a:solidFill>
                  <a:schemeClr val="dk1"/>
                </a:solidFill>
              </a:rPr>
              <a:t>, surgieron problemas en el manejo de cookies y autenticación debido a políticas de CORS y diferencias de dominio, impactando la persistencia de la sesión del usuario.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5" name="Google Shape;22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3"/>
          <p:cNvSpPr txBox="1"/>
          <p:nvPr/>
        </p:nvSpPr>
        <p:spPr>
          <a:xfrm>
            <a:off x="-581349" y="1360748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chemeClr val="dk1"/>
                </a:solidFill>
              </a:rPr>
              <a:t>Conclusión</a:t>
            </a:r>
            <a:endParaRPr b="1"/>
          </a:p>
        </p:txBody>
      </p:sp>
      <p:sp>
        <p:nvSpPr>
          <p:cNvPr id="227" name="Google Shape;227;p13"/>
          <p:cNvSpPr txBox="1"/>
          <p:nvPr/>
        </p:nvSpPr>
        <p:spPr>
          <a:xfrm>
            <a:off x="818875" y="2498100"/>
            <a:ext cx="91305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Para culminar nuestra presentación, podemos decir que vamos por muy buen camino para lograr lo que, como equipo, esperamos terminar: El chatbot. Esta funcionalidad es el plato fuerte de nuestro proyecto y queremos desarrollarlo lo antes posible. Todo lo que llevamos hecho hasta esta semana ha sido nada más que el pavimento de nuestra funcionalidad principal; Sin todo este camino previo se nos hubiese hecho, literalmente, imposible avanzar con el </a:t>
            </a:r>
            <a:r>
              <a:rPr b="1" lang="es-CL" sz="1800">
                <a:solidFill>
                  <a:schemeClr val="dk1"/>
                </a:solidFill>
              </a:rPr>
              <a:t>chatbot. </a:t>
            </a:r>
            <a:r>
              <a:rPr lang="es-CL" sz="1800">
                <a:solidFill>
                  <a:schemeClr val="dk1"/>
                </a:solidFill>
              </a:rPr>
              <a:t>Como equipo, hemos decidido, mediante sprints semanales, ir cada vez haciendo más robusta nuestra aplicación para que quede lo mejor posible y preparada para futuras mejoras y no encontrarnos con sorpresas al momento de ir trabajando con el bot.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2" name="Google Shape;2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chemeClr val="dk1"/>
                </a:solidFill>
              </a:rPr>
              <a:t>PREGUNTAS DE LA COMISIÓN</a:t>
            </a:r>
            <a:endParaRPr b="1"/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